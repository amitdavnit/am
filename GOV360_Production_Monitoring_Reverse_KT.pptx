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05156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83DBD4"/>
                </a:solidFill>
              </a:rPr>
              <a:t>REVERSE KNOWLEDGE TRANSFER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1709928"/>
            <a:ext cx="10607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 &amp; Staging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Job Monitoring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04672" y="3867912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E5F2"/>
                </a:solidFill>
              </a:rPr>
              <a:t>Government Data Platform  |  GCP / Airflow / Dataproc / BigQuery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04672" y="59253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C2D8"/>
                </a:solidFill>
              </a:rPr>
              <a:t>Presented by Amit  •  23 October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Objectives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76072" y="9144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36477"/>
                </a:solidFill>
              </a:rPr>
              <a:t>Operational readiness: monitoring, incident response, recovery and handoff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18520" cy="0"/>
          </a:xfrm>
          <a:prstGeom prst="line">
            <a:avLst/>
          </a:prstGeom>
          <a:noFill/>
          <a:ln w="12700">
            <a:solidFill>
              <a:srgbClr val="DAE3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36477"/>
                </a:solidFill>
              </a:rPr>
              <a:t>GOVERNMENT DATA PLATFORM  •  REVERSE KNOWLEDGE TRANSFER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477"/>
                </a:solidFill>
              </a:rPr>
              <a:t>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3474720" cy="1645920"/>
          </a:xfrm>
          <a:prstGeom prst="roundRect">
            <a:avLst>
              <a:gd name="adj" fmla="val 5556"/>
            </a:avLst>
          </a:prstGeom>
          <a:solidFill>
            <a:srgbClr val="F3F7FB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554480"/>
            <a:ext cx="59436" cy="1645920"/>
          </a:xfrm>
          <a:prstGeom prst="rect">
            <a:avLst/>
          </a:prstGeom>
          <a:solidFill>
            <a:srgbClr val="1466A3"/>
          </a:solidFill>
          <a:ln w="12700">
            <a:solidFill>
              <a:srgbClr val="1466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916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E"/>
                </a:solidFill>
              </a:rPr>
              <a:t>Monitor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075688"/>
            <a:ext cx="31089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36477"/>
                </a:solidFill>
              </a:rPr>
              <a:t>Review expected staging and production runs, task states and batch-level evidence.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4343400" y="1554480"/>
            <a:ext cx="3474720" cy="1645920"/>
          </a:xfrm>
          <a:prstGeom prst="roundRect">
            <a:avLst>
              <a:gd name="adj" fmla="val 5556"/>
            </a:avLst>
          </a:prstGeom>
          <a:solidFill>
            <a:srgbClr val="F3F7FB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1554480"/>
            <a:ext cx="59436" cy="1645920"/>
          </a:xfrm>
          <a:prstGeom prst="rect">
            <a:avLst/>
          </a:prstGeom>
          <a:solidFill>
            <a:srgbClr val="1466A3"/>
          </a:solidFill>
          <a:ln w="12700">
            <a:solidFill>
              <a:srgbClr val="1466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16916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E"/>
                </a:solidFill>
              </a:rPr>
              <a:t>Investigate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26280" y="2075688"/>
            <a:ext cx="31089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36477"/>
                </a:solidFill>
              </a:rPr>
              <a:t>Separate expected no-change outcomes from actionable failures; identify root cause.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8046720" y="1554480"/>
            <a:ext cx="3474720" cy="1645920"/>
          </a:xfrm>
          <a:prstGeom prst="roundRect">
            <a:avLst>
              <a:gd name="adj" fmla="val 5556"/>
            </a:avLst>
          </a:prstGeom>
          <a:solidFill>
            <a:srgbClr val="F3F7FB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554480"/>
            <a:ext cx="59436" cy="1645920"/>
          </a:xfrm>
          <a:prstGeom prst="rect">
            <a:avLst/>
          </a:prstGeom>
          <a:solidFill>
            <a:srgbClr val="1466A3"/>
          </a:solidFill>
          <a:ln w="12700">
            <a:solidFill>
              <a:srgbClr val="1466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16916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E"/>
                </a:solidFill>
              </a:rPr>
              <a:t>Recover &amp; Handoff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0" y="2075688"/>
            <a:ext cx="31089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36477"/>
                </a:solidFill>
              </a:rPr>
              <a:t>Apply approved recovery, verify downstream outputs and document ownership.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685800" y="3886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33E"/>
                </a:solidFill>
              </a:rPr>
              <a:t>Session flow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85800" y="4471416"/>
            <a:ext cx="86868" cy="86868"/>
          </a:xfrm>
          <a:prstGeom prst="ellipse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4389120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0233E"/>
                </a:solidFill>
              </a:rPr>
              <a:t>Workflow and pipeline checks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5800" y="4956048"/>
            <a:ext cx="86868" cy="86868"/>
          </a:xfrm>
          <a:prstGeom prst="ellipse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6968" y="4873752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0233E"/>
                </a:solidFill>
              </a:rPr>
              <a:t>File schedule and status interpretation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85800" y="5440680"/>
            <a:ext cx="86868" cy="86868"/>
          </a:xfrm>
          <a:prstGeom prst="ellipse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" y="5358384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0233E"/>
                </a:solidFill>
              </a:rPr>
              <a:t>Failure triage, restart and operational handoff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Data Flow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76072" y="9144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36477"/>
                </a:solidFill>
              </a:rPr>
              <a:t>Source ingestion through downstream publication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18520" cy="0"/>
          </a:xfrm>
          <a:prstGeom prst="line">
            <a:avLst/>
          </a:prstGeom>
          <a:noFill/>
          <a:ln w="12700">
            <a:solidFill>
              <a:srgbClr val="DAE3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36477"/>
                </a:solidFill>
              </a:rPr>
              <a:t>GOVERNMENT DATA PLATFORM  •  REVERSE KNOWLEDGE TRANSFER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477"/>
                </a:solidFill>
              </a:rPr>
              <a:t>03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874520"/>
            <a:ext cx="1453896" cy="1161288"/>
          </a:xfrm>
          <a:prstGeom prst="roundRect">
            <a:avLst>
              <a:gd name="adj" fmla="val 6299"/>
            </a:avLst>
          </a:prstGeom>
          <a:solidFill>
            <a:srgbClr val="F3F7FB"/>
          </a:solidFill>
          <a:ln w="12700">
            <a:solidFill>
              <a:srgbClr val="DCE7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39112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33E"/>
                </a:solidFill>
              </a:rPr>
              <a:t>Government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33E"/>
                </a:solidFill>
              </a:rPr>
              <a:t>Sources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38912" y="2578608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36477"/>
                </a:solidFill>
              </a:rPr>
              <a:t>APIs / files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47088" y="23134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A8A0"/>
                </a:solidFill>
              </a:rPr>
              <a:t>→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2075688" y="1874520"/>
            <a:ext cx="1453896" cy="1161288"/>
          </a:xfrm>
          <a:prstGeom prst="roundRect">
            <a:avLst>
              <a:gd name="adj" fmla="val 6299"/>
            </a:avLst>
          </a:prstGeom>
          <a:solidFill>
            <a:srgbClr val="F3F7FB"/>
          </a:solidFill>
          <a:ln w="12700">
            <a:solidFill>
              <a:srgbClr val="DCE7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8840" y="2039112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33E"/>
                </a:solidFill>
              </a:rPr>
              <a:t>AWS S3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130552" y="2578608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36477"/>
                </a:solidFill>
              </a:rPr>
              <a:t>Landing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38728" y="23134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A8A0"/>
                </a:solidFill>
              </a:rPr>
              <a:t>→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3767328" y="1874520"/>
            <a:ext cx="1453896" cy="1161288"/>
          </a:xfrm>
          <a:prstGeom prst="roundRect">
            <a:avLst>
              <a:gd name="adj" fmla="val 6299"/>
            </a:avLst>
          </a:prstGeom>
          <a:solidFill>
            <a:srgbClr val="F3F7FB"/>
          </a:solidFill>
          <a:ln w="12700">
            <a:solidFill>
              <a:srgbClr val="DCE7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2039112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33E"/>
                </a:solidFill>
              </a:rPr>
              <a:t>GCS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822192" y="2578608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36477"/>
                </a:solidFill>
              </a:rPr>
              <a:t>Transfer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30368" y="23134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A8A0"/>
                </a:solidFill>
              </a:rPr>
              <a:t>→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5458968" y="1874520"/>
            <a:ext cx="1453896" cy="1161288"/>
          </a:xfrm>
          <a:prstGeom prst="roundRect">
            <a:avLst>
              <a:gd name="adj" fmla="val 6299"/>
            </a:avLst>
          </a:prstGeom>
          <a:solidFill>
            <a:srgbClr val="DFF4F2"/>
          </a:solidFill>
          <a:ln w="12700">
            <a:solidFill>
              <a:srgbClr val="00A8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2039112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33E"/>
                </a:solidFill>
              </a:rPr>
              <a:t>Airflow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513832" y="2578608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36477"/>
                </a:solidFill>
              </a:rPr>
              <a:t>Orchestration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22008" y="23134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A8A0"/>
                </a:solidFill>
              </a:rPr>
              <a:t>→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7150608" y="1874520"/>
            <a:ext cx="1453896" cy="1161288"/>
          </a:xfrm>
          <a:prstGeom prst="roundRect">
            <a:avLst>
              <a:gd name="adj" fmla="val 6299"/>
            </a:avLst>
          </a:prstGeom>
          <a:solidFill>
            <a:srgbClr val="F3F7FB"/>
          </a:solidFill>
          <a:ln w="12700">
            <a:solidFill>
              <a:srgbClr val="DCE7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2039112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33E"/>
                </a:solidFill>
              </a:rPr>
              <a:t>Dataproc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205472" y="2578608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36477"/>
                </a:solidFill>
              </a:rPr>
              <a:t>Processing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13648" y="23134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A8A0"/>
                </a:solidFill>
              </a:rPr>
              <a:t>→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8842248" y="1874520"/>
            <a:ext cx="1453896" cy="1161288"/>
          </a:xfrm>
          <a:prstGeom prst="roundRect">
            <a:avLst>
              <a:gd name="adj" fmla="val 6299"/>
            </a:avLst>
          </a:prstGeom>
          <a:solidFill>
            <a:srgbClr val="F3F7FB"/>
          </a:solidFill>
          <a:ln w="12700">
            <a:solidFill>
              <a:srgbClr val="DCE7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15400" y="2039112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33E"/>
                </a:solidFill>
              </a:rPr>
              <a:t>BigQuery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897112" y="2578608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36477"/>
                </a:solidFill>
              </a:rPr>
              <a:t>Storage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305288" y="23134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A8A0"/>
                </a:solidFill>
              </a:rPr>
              <a:t>→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10533888" y="1874520"/>
            <a:ext cx="1453896" cy="1161288"/>
          </a:xfrm>
          <a:prstGeom prst="roundRect">
            <a:avLst>
              <a:gd name="adj" fmla="val 6299"/>
            </a:avLst>
          </a:prstGeom>
          <a:solidFill>
            <a:srgbClr val="F3F7FB"/>
          </a:solidFill>
          <a:ln w="12700">
            <a:solidFill>
              <a:srgbClr val="DCE7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07040" y="2039112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33E"/>
                </a:solidFill>
              </a:rPr>
              <a:t>Publish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0588752" y="2578608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36477"/>
                </a:solidFill>
              </a:rPr>
              <a:t>Consumers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60120" y="3886200"/>
            <a:ext cx="4983480" cy="1207008"/>
          </a:xfrm>
          <a:prstGeom prst="roundRect">
            <a:avLst>
              <a:gd name="adj" fmla="val 7576"/>
            </a:avLst>
          </a:prstGeom>
          <a:solidFill>
            <a:srgbClr val="F3F7FB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0120" y="3886200"/>
            <a:ext cx="59436" cy="1207008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43000" y="402336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E"/>
                </a:solidFill>
              </a:rPr>
              <a:t>Matching (where applicable)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143000" y="4407408"/>
            <a:ext cx="4617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36477"/>
                </a:solidFill>
              </a:rPr>
              <a:t>Match request → D&amp;B response → entity resolution → accepted DUNS</a:t>
            </a:r>
            <a:endParaRPr lang="en-US" sz="1130" dirty="0"/>
          </a:p>
        </p:txBody>
      </p:sp>
      <p:sp>
        <p:nvSpPr>
          <p:cNvPr id="39" name="Shape 37"/>
          <p:cNvSpPr/>
          <p:nvPr/>
        </p:nvSpPr>
        <p:spPr>
          <a:xfrm>
            <a:off x="6263640" y="3886200"/>
            <a:ext cx="4983480" cy="1207008"/>
          </a:xfrm>
          <a:prstGeom prst="roundRect">
            <a:avLst>
              <a:gd name="adj" fmla="val 7576"/>
            </a:avLst>
          </a:prstGeom>
          <a:solidFill>
            <a:srgbClr val="F3F7FB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63640" y="3886200"/>
            <a:ext cx="59436" cy="1207008"/>
          </a:xfrm>
          <a:prstGeom prst="rect">
            <a:avLst/>
          </a:prstGeom>
          <a:solidFill>
            <a:srgbClr val="1466A3"/>
          </a:solidFill>
          <a:ln w="12700">
            <a:solidFill>
              <a:srgbClr val="1466A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46520" y="402336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E"/>
                </a:solidFill>
              </a:rPr>
              <a:t>Monitoring evidence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446520" y="4407408"/>
            <a:ext cx="4617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36477"/>
                </a:solidFill>
              </a:rPr>
              <a:t>MDD UI / One-click Operation, Airflow, Dataproc logs, BigQuery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Monitoring Workflow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76072" y="9144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36477"/>
                </a:solidFill>
              </a:rPr>
              <a:t>Repeat for each expected source feed and environment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18520" cy="0"/>
          </a:xfrm>
          <a:prstGeom prst="line">
            <a:avLst/>
          </a:prstGeom>
          <a:noFill/>
          <a:ln w="12700">
            <a:solidFill>
              <a:srgbClr val="DAE3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36477"/>
                </a:solidFill>
              </a:rPr>
              <a:t>GOVERNMENT DATA PLATFORM  •  REVERSE KNOWLEDGE TRANSFER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477"/>
                </a:solidFill>
              </a:rPr>
              <a:t>04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10698480" cy="667512"/>
          </a:xfrm>
          <a:prstGeom prst="roundRect">
            <a:avLst>
              <a:gd name="adj" fmla="val 10959"/>
            </a:avLst>
          </a:prstGeom>
          <a:solidFill>
            <a:srgbClr val="F3F7FB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54533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A0"/>
                </a:solidFill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27632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3E"/>
                </a:solidFill>
              </a:rPr>
              <a:t>Review schedule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06240" y="15727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36477"/>
                </a:solidFill>
              </a:rPr>
              <a:t>Identify expected source / date / feed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249424"/>
            <a:ext cx="10698480" cy="667512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3774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A0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27632" y="23865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3E"/>
                </a:solidFill>
              </a:rPr>
              <a:t>Check operation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06240" y="24048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36477"/>
                </a:solidFill>
              </a:rPr>
              <a:t>Find batch, current state and last run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3081528"/>
            <a:ext cx="10698480" cy="667512"/>
          </a:xfrm>
          <a:prstGeom prst="roundRect">
            <a:avLst>
              <a:gd name="adj" fmla="val 10959"/>
            </a:avLst>
          </a:prstGeom>
          <a:solidFill>
            <a:srgbClr val="F3F7FB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2095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A0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27632" y="32186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3E"/>
                </a:solidFill>
              </a:rPr>
              <a:t>Inspect DAG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06240" y="323697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36477"/>
                </a:solidFill>
              </a:rPr>
              <a:t>Review graph, failed / skipped tasks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3913632"/>
            <a:ext cx="10698480" cy="667512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041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A0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27632" y="40507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3E"/>
                </a:solidFill>
              </a:rPr>
              <a:t>Validate data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06240" y="4069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36477"/>
                </a:solidFill>
              </a:rPr>
              <a:t>Compare counts and downstream status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" y="4745736"/>
            <a:ext cx="10698480" cy="667512"/>
          </a:xfrm>
          <a:prstGeom prst="roundRect">
            <a:avLst>
              <a:gd name="adj" fmla="val 10959"/>
            </a:avLst>
          </a:prstGeom>
          <a:solidFill>
            <a:srgbClr val="F3F7FB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8737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A0"/>
                </a:solidFill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27632" y="48828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3E"/>
                </a:solidFill>
              </a:rPr>
              <a:t>Record outcome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206240" y="490118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36477"/>
                </a:solidFill>
              </a:rPr>
              <a:t>Success, expected skip or incident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Airflow DAG — Execution Stages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76072" y="9144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36477"/>
                </a:solidFill>
              </a:rPr>
              <a:t>Actual task names may vary by source and pipeline version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18520" cy="0"/>
          </a:xfrm>
          <a:prstGeom prst="line">
            <a:avLst/>
          </a:prstGeom>
          <a:noFill/>
          <a:ln w="12700">
            <a:solidFill>
              <a:srgbClr val="DAE3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36477"/>
                </a:solidFill>
              </a:rPr>
              <a:t>GOVERNMENT DATA PLATFORM  •  REVERSE KNOWLEDGE TRANSFER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477"/>
                </a:solidFill>
              </a:rPr>
              <a:t>05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04672" y="1353312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F3F7FB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1353312"/>
            <a:ext cx="59436" cy="960120"/>
          </a:xfrm>
          <a:prstGeom prst="rect">
            <a:avLst/>
          </a:prstGeom>
          <a:solidFill>
            <a:srgbClr val="1466A3"/>
          </a:solidFill>
          <a:ln w="12700">
            <a:solidFill>
              <a:srgbClr val="1466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490472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E"/>
                </a:solidFill>
              </a:rPr>
              <a:t>Initialization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87552" y="1874520"/>
            <a:ext cx="10149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36477"/>
                </a:solidFill>
              </a:rPr>
              <a:t>init_tag → file_to_process → create_batch_config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804672" y="2478024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F3F7FB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2478024"/>
            <a:ext cx="59436" cy="960120"/>
          </a:xfrm>
          <a:prstGeom prst="rect">
            <a:avLst/>
          </a:prstGeom>
          <a:solidFill>
            <a:srgbClr val="1466A3"/>
          </a:solidFill>
          <a:ln w="12700">
            <a:solidFill>
              <a:srgbClr val="1466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2615184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E"/>
                </a:solidFill>
              </a:rPr>
              <a:t>Processing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87552" y="2999232"/>
            <a:ext cx="10149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36477"/>
                </a:solidFill>
              </a:rPr>
              <a:t>execute_engine → validate_row_count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804672" y="3602736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F3F7FB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3602736"/>
            <a:ext cx="59436" cy="960120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3739896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E"/>
                </a:solidFill>
              </a:rPr>
              <a:t>Matching (if enabled)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87552" y="4123944"/>
            <a:ext cx="10149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36477"/>
                </a:solidFill>
              </a:rPr>
              <a:t>build request → send / wait response → process response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804672" y="4727448"/>
            <a:ext cx="10515600" cy="960120"/>
          </a:xfrm>
          <a:prstGeom prst="roundRect">
            <a:avLst>
              <a:gd name="adj" fmla="val 9524"/>
            </a:avLst>
          </a:prstGeom>
          <a:solidFill>
            <a:srgbClr val="F3F7FB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4727448"/>
            <a:ext cx="59436" cy="960120"/>
          </a:xfrm>
          <a:prstGeom prst="rect">
            <a:avLst/>
          </a:prstGeom>
          <a:solidFill>
            <a:srgbClr val="1466A3"/>
          </a:solidFill>
          <a:ln w="12700">
            <a:solidFill>
              <a:srgbClr val="1466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4864608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E"/>
                </a:solidFill>
              </a:rPr>
              <a:t>Publication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87552" y="5248656"/>
            <a:ext cx="10149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36477"/>
                </a:solidFill>
              </a:rPr>
              <a:t>validate_match_counts → publish_data / metrics</a:t>
            </a:r>
            <a:endParaRPr lang="en-US" sz="11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Interpreting Pipeline Status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76072" y="9144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36477"/>
                </a:solidFill>
              </a:rPr>
              <a:t>Decide using source schedule, DAG logs and record-level evidence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18520" cy="0"/>
          </a:xfrm>
          <a:prstGeom prst="line">
            <a:avLst/>
          </a:prstGeom>
          <a:noFill/>
          <a:ln w="12700">
            <a:solidFill>
              <a:srgbClr val="DAE3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36477"/>
                </a:solidFill>
              </a:rPr>
              <a:t>GOVERNMENT DATA PLATFORM  •  REVERSE KNOWLEDGE TRANSFER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477"/>
                </a:solidFill>
              </a:rPr>
              <a:t>06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3410712" cy="2834640"/>
          </a:xfrm>
          <a:prstGeom prst="roundRect">
            <a:avLst>
              <a:gd name="adj" fmla="val 3226"/>
            </a:avLst>
          </a:prstGeom>
          <a:solidFill>
            <a:srgbClr val="F3F7FB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417320"/>
            <a:ext cx="59436" cy="2834640"/>
          </a:xfrm>
          <a:prstGeom prst="rect">
            <a:avLst/>
          </a:prstGeom>
          <a:solidFill>
            <a:srgbClr val="27865E"/>
          </a:solidFill>
          <a:ln w="12700">
            <a:solidFill>
              <a:srgbClr val="2786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554480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E"/>
                </a:solidFill>
              </a:rPr>
              <a:t>SUCCESS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1938528"/>
            <a:ext cx="3044952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36477"/>
                </a:solidFill>
              </a:rPr>
              <a:t>Required tasks completed. Confirm expected counts, publish status and any downstream checks.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4389120" y="1417320"/>
            <a:ext cx="3410712" cy="2834640"/>
          </a:xfrm>
          <a:prstGeom prst="roundRect">
            <a:avLst>
              <a:gd name="adj" fmla="val 3226"/>
            </a:avLst>
          </a:prstGeom>
          <a:solidFill>
            <a:srgbClr val="F3F7FB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1417320"/>
            <a:ext cx="59436" cy="2834640"/>
          </a:xfrm>
          <a:prstGeom prst="rect">
            <a:avLst/>
          </a:prstGeom>
          <a:solidFill>
            <a:srgbClr val="D18C26"/>
          </a:solidFill>
          <a:ln w="12700">
            <a:solidFill>
              <a:srgbClr val="D18C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554480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E"/>
                </a:solidFill>
              </a:rPr>
              <a:t>EXPECTED SKIP / NO CHANGE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1938528"/>
            <a:ext cx="3044952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36477"/>
                </a:solidFill>
              </a:rPr>
              <a:t>May be valid when there are no new or changed records. Verify CDC counts and source-specific skip rules.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8046720" y="1417320"/>
            <a:ext cx="3410712" cy="2834640"/>
          </a:xfrm>
          <a:prstGeom prst="roundRect">
            <a:avLst>
              <a:gd name="adj" fmla="val 3226"/>
            </a:avLst>
          </a:prstGeom>
          <a:solidFill>
            <a:srgbClr val="F3F7FB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417320"/>
            <a:ext cx="59436" cy="2834640"/>
          </a:xfrm>
          <a:prstGeom prst="rect">
            <a:avLst/>
          </a:prstGeom>
          <a:solidFill>
            <a:srgbClr val="C95353"/>
          </a:solidFill>
          <a:ln w="12700">
            <a:solidFill>
              <a:srgbClr val="C953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1554480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E"/>
                </a:solidFill>
              </a:rPr>
              <a:t>FAILURE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0" y="1938528"/>
            <a:ext cx="3044952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36477"/>
                </a:solidFill>
              </a:rPr>
              <a:t>Unexpected missing file, parsing, missing object, timeout or infrastructure error. Triage and escalate.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804672" y="48920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33E"/>
                </a:solidFill>
              </a:rPr>
              <a:t>Key principle: Airflow status alone does not prove business-data completeness.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Feed &amp; File Arrival Validation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76072" y="9144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36477"/>
                </a:solidFill>
              </a:rPr>
              <a:t>Confirm the source-specific cadence before interpreting a missing run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18520" cy="0"/>
          </a:xfrm>
          <a:prstGeom prst="line">
            <a:avLst/>
          </a:prstGeom>
          <a:noFill/>
          <a:ln w="12700">
            <a:solidFill>
              <a:srgbClr val="DAE3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36477"/>
                </a:solidFill>
              </a:rPr>
              <a:t>GOVERNMENT DATA PLATFORM  •  REVERSE KNOWLEDGE TRANSFER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477"/>
                </a:solidFill>
              </a:rPr>
              <a:t>07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1591056"/>
            <a:ext cx="86868" cy="86868"/>
          </a:xfrm>
          <a:prstGeom prst="ellipse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1508760"/>
            <a:ext cx="10561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0233E"/>
                </a:solidFill>
              </a:rPr>
              <a:t>Review expected frequency and delivery window (daily / monthly / source-specific).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2459736"/>
            <a:ext cx="86868" cy="86868"/>
          </a:xfrm>
          <a:prstGeom prst="ellipse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377440"/>
            <a:ext cx="10561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0233E"/>
                </a:solidFill>
              </a:rPr>
              <a:t>Confirm source file arrival and filename / regex match in landing storage.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3328416"/>
            <a:ext cx="86868" cy="86868"/>
          </a:xfrm>
          <a:prstGeom prst="ellipse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246120"/>
            <a:ext cx="10561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0233E"/>
                </a:solidFill>
              </a:rPr>
              <a:t>Check file_to_process logs and whether a batch configuration was created.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4197096"/>
            <a:ext cx="86868" cy="86868"/>
          </a:xfrm>
          <a:prstGeom prst="ellipse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4114800"/>
            <a:ext cx="10561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0233E"/>
                </a:solidFill>
              </a:rPr>
              <a:t>For missing or delayed feeds, validate upstream dependency and document impact.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68680" y="5257800"/>
            <a:ext cx="10378440" cy="594360"/>
          </a:xfrm>
          <a:prstGeom prst="roundRect">
            <a:avLst>
              <a:gd name="adj" fmla="val 15385"/>
            </a:avLst>
          </a:prstGeom>
          <a:solidFill>
            <a:srgbClr val="F3F7FB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5257800"/>
            <a:ext cx="59436" cy="594360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5394960"/>
            <a:ext cx="10012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E"/>
                </a:solidFill>
              </a:rPr>
              <a:t>Example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51560" y="5779008"/>
            <a:ext cx="10012680" cy="-9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36477"/>
                </a:solidFill>
              </a:rPr>
              <a:t>Exclusion daily monitoring; CMS Nursing Home monthly layout changes.</a:t>
            </a:r>
            <a:endParaRPr lang="en-US" sz="11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Failure Triage — Evidence-Based Investigation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76072" y="9144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36477"/>
                </a:solidFill>
              </a:rPr>
              <a:t>Investigate the first meaningful failure, not only the final red task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18520" cy="0"/>
          </a:xfrm>
          <a:prstGeom prst="line">
            <a:avLst/>
          </a:prstGeom>
          <a:noFill/>
          <a:ln w="12700">
            <a:solidFill>
              <a:srgbClr val="DAE3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36477"/>
                </a:solidFill>
              </a:rPr>
              <a:t>GOVERNMENT DATA PLATFORM  •  REVERSE KNOWLEDGE TRANSFER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477"/>
                </a:solidFill>
              </a:rPr>
              <a:t>08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344168"/>
            <a:ext cx="5166360" cy="1188720"/>
          </a:xfrm>
          <a:prstGeom prst="roundRect">
            <a:avLst>
              <a:gd name="adj" fmla="val 7692"/>
            </a:avLst>
          </a:prstGeom>
          <a:solidFill>
            <a:srgbClr val="F3F7FB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344168"/>
            <a:ext cx="59436" cy="1188720"/>
          </a:xfrm>
          <a:prstGeom prst="rect">
            <a:avLst/>
          </a:prstGeom>
          <a:solidFill>
            <a:srgbClr val="1466A3"/>
          </a:solidFill>
          <a:ln w="12700">
            <a:solidFill>
              <a:srgbClr val="1466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48132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E"/>
                </a:solidFill>
              </a:rPr>
              <a:t>1. Airflow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1865376"/>
            <a:ext cx="4800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36477"/>
                </a:solidFill>
              </a:rPr>
              <a:t>Task logs, timestamp, exception and retry history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6309360" y="1344168"/>
            <a:ext cx="5166360" cy="1188720"/>
          </a:xfrm>
          <a:prstGeom prst="roundRect">
            <a:avLst>
              <a:gd name="adj" fmla="val 7692"/>
            </a:avLst>
          </a:prstGeom>
          <a:solidFill>
            <a:srgbClr val="F3F7FB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344168"/>
            <a:ext cx="59436" cy="1188720"/>
          </a:xfrm>
          <a:prstGeom prst="rect">
            <a:avLst/>
          </a:prstGeom>
          <a:solidFill>
            <a:srgbClr val="1466A3"/>
          </a:solidFill>
          <a:ln w="12700">
            <a:solidFill>
              <a:srgbClr val="1466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48132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E"/>
                </a:solidFill>
              </a:rPr>
              <a:t>2. Dataproc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1865376"/>
            <a:ext cx="4800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36477"/>
                </a:solidFill>
              </a:rPr>
              <a:t>Job status, driver logs, GCS input / staging object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777240" y="2761488"/>
            <a:ext cx="5166360" cy="1188720"/>
          </a:xfrm>
          <a:prstGeom prst="roundRect">
            <a:avLst>
              <a:gd name="adj" fmla="val 7692"/>
            </a:avLst>
          </a:prstGeom>
          <a:solidFill>
            <a:srgbClr val="F3F7FB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2761488"/>
            <a:ext cx="59436" cy="1188720"/>
          </a:xfrm>
          <a:prstGeom prst="rect">
            <a:avLst/>
          </a:prstGeom>
          <a:solidFill>
            <a:srgbClr val="1466A3"/>
          </a:solidFill>
          <a:ln w="12700">
            <a:solidFill>
              <a:srgbClr val="1466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289864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E"/>
                </a:solidFill>
              </a:rPr>
              <a:t>3. BigQuery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3282696"/>
            <a:ext cx="4800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36477"/>
                </a:solidFill>
              </a:rPr>
              <a:t>Processing counts, bad / invalid rows, CDC / match audit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6309360" y="2761488"/>
            <a:ext cx="5166360" cy="1188720"/>
          </a:xfrm>
          <a:prstGeom prst="roundRect">
            <a:avLst>
              <a:gd name="adj" fmla="val 7692"/>
            </a:avLst>
          </a:prstGeom>
          <a:solidFill>
            <a:srgbClr val="F3F7FB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2761488"/>
            <a:ext cx="59436" cy="1188720"/>
          </a:xfrm>
          <a:prstGeom prst="rect">
            <a:avLst/>
          </a:prstGeom>
          <a:solidFill>
            <a:srgbClr val="1466A3"/>
          </a:solidFill>
          <a:ln w="12700">
            <a:solidFill>
              <a:srgbClr val="1466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289864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E"/>
                </a:solidFill>
              </a:rPr>
              <a:t>4. Integration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92240" y="3282696"/>
            <a:ext cx="4800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36477"/>
                </a:solidFill>
              </a:rPr>
              <a:t>S3 / GCS transfer, matching PUT / GET, response availability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777240" y="4178808"/>
            <a:ext cx="5166360" cy="1188720"/>
          </a:xfrm>
          <a:prstGeom prst="roundRect">
            <a:avLst>
              <a:gd name="adj" fmla="val 7692"/>
            </a:avLst>
          </a:prstGeom>
          <a:solidFill>
            <a:srgbClr val="F3F7FB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178808"/>
            <a:ext cx="59436" cy="1188720"/>
          </a:xfrm>
          <a:prstGeom prst="rect">
            <a:avLst/>
          </a:prstGeom>
          <a:solidFill>
            <a:srgbClr val="C95353"/>
          </a:solidFill>
          <a:ln w="12700">
            <a:solidFill>
              <a:srgbClr val="C953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431596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E"/>
                </a:solidFill>
              </a:rPr>
              <a:t>5. Impact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0120" y="4700016"/>
            <a:ext cx="4800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36477"/>
                </a:solidFill>
              </a:rPr>
              <a:t>Affected source, batch, consumer, SLA and next action</a:t>
            </a:r>
            <a:endParaRPr lang="en-US" sz="11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Known Incident Scenarios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76072" y="9144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36477"/>
                </a:solidFill>
              </a:rPr>
              <a:t>Examples from Government Data operations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18520" cy="0"/>
          </a:xfrm>
          <a:prstGeom prst="line">
            <a:avLst/>
          </a:prstGeom>
          <a:noFill/>
          <a:ln w="12700">
            <a:solidFill>
              <a:srgbClr val="DAE3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36477"/>
                </a:solidFill>
              </a:rPr>
              <a:t>GOVERNMENT DATA PLATFORM  •  REVERSE KNOWLEDGE TRANSFER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477"/>
                </a:solidFill>
              </a:rPr>
              <a:t>09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13232" y="1490472"/>
            <a:ext cx="5239512" cy="1755648"/>
          </a:xfrm>
          <a:prstGeom prst="roundRect">
            <a:avLst>
              <a:gd name="adj" fmla="val 5208"/>
            </a:avLst>
          </a:prstGeom>
          <a:solidFill>
            <a:srgbClr val="F3F7FB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490472"/>
            <a:ext cx="59436" cy="1755648"/>
          </a:xfrm>
          <a:prstGeom prst="rect">
            <a:avLst/>
          </a:prstGeom>
          <a:solidFill>
            <a:srgbClr val="D18C26"/>
          </a:solidFill>
          <a:ln w="12700">
            <a:solidFill>
              <a:srgbClr val="D18C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627632"/>
            <a:ext cx="4873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E"/>
                </a:solidFill>
              </a:rPr>
              <a:t>No-change CDC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96112" y="2011680"/>
            <a:ext cx="487375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36477"/>
                </a:solidFill>
              </a:rPr>
              <a:t>Validate delta / unchanged records; expected skip only with evidence.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6291072" y="1490472"/>
            <a:ext cx="5239512" cy="1755648"/>
          </a:xfrm>
          <a:prstGeom prst="roundRect">
            <a:avLst>
              <a:gd name="adj" fmla="val 5208"/>
            </a:avLst>
          </a:prstGeom>
          <a:solidFill>
            <a:srgbClr val="F3F7FB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91072" y="1490472"/>
            <a:ext cx="59436" cy="1755648"/>
          </a:xfrm>
          <a:prstGeom prst="rect">
            <a:avLst/>
          </a:prstGeom>
          <a:solidFill>
            <a:srgbClr val="C95353"/>
          </a:solidFill>
          <a:ln w="12700">
            <a:solidFill>
              <a:srgbClr val="C953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3952" y="1627632"/>
            <a:ext cx="4873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E"/>
                </a:solidFill>
              </a:rPr>
              <a:t>Dataproc GCS 404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73952" y="2011680"/>
            <a:ext cx="487375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36477"/>
                </a:solidFill>
              </a:rPr>
              <a:t>Check physical object existence; lifecycle / retention may remove staging objects.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713232" y="3547872"/>
            <a:ext cx="5239512" cy="1755648"/>
          </a:xfrm>
          <a:prstGeom prst="roundRect">
            <a:avLst>
              <a:gd name="adj" fmla="val 5208"/>
            </a:avLst>
          </a:prstGeom>
          <a:solidFill>
            <a:srgbClr val="F3F7FB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3547872"/>
            <a:ext cx="59436" cy="1755648"/>
          </a:xfrm>
          <a:prstGeom prst="rect">
            <a:avLst/>
          </a:prstGeom>
          <a:solidFill>
            <a:srgbClr val="C95353"/>
          </a:solidFill>
          <a:ln w="12700">
            <a:solidFill>
              <a:srgbClr val="C953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685032"/>
            <a:ext cx="4873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E"/>
                </a:solidFill>
              </a:rPr>
              <a:t>Match response timeout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6112" y="4069080"/>
            <a:ext cx="487375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36477"/>
                </a:solidFill>
              </a:rPr>
              <a:t>Verify request sent, response arrival, matching logs and dependency owner.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6291072" y="3547872"/>
            <a:ext cx="5239512" cy="1755648"/>
          </a:xfrm>
          <a:prstGeom prst="roundRect">
            <a:avLst>
              <a:gd name="adj" fmla="val 5208"/>
            </a:avLst>
          </a:prstGeom>
          <a:solidFill>
            <a:srgbClr val="F3F7FB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91072" y="3547872"/>
            <a:ext cx="59436" cy="1755648"/>
          </a:xfrm>
          <a:prstGeom prst="rect">
            <a:avLst/>
          </a:prstGeom>
          <a:solidFill>
            <a:srgbClr val="C95353"/>
          </a:solidFill>
          <a:ln w="12700">
            <a:solidFill>
              <a:srgbClr val="C953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3952" y="3685032"/>
            <a:ext cx="4873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E"/>
                </a:solidFill>
              </a:rPr>
              <a:t>Schema / parsing error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73952" y="4069080"/>
            <a:ext cx="487375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36477"/>
                </a:solidFill>
              </a:rPr>
              <a:t>Compare expected source layout and validations; confirm approved mapping.</a:t>
            </a:r>
            <a:endParaRPr lang="en-US" sz="11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Controlled Restart &amp; Recovery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76072" y="9144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36477"/>
                </a:solidFill>
              </a:rPr>
              <a:t>Recovery only after root cause and correct restart point are established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18520" cy="0"/>
          </a:xfrm>
          <a:prstGeom prst="line">
            <a:avLst/>
          </a:prstGeom>
          <a:noFill/>
          <a:ln w="12700">
            <a:solidFill>
              <a:srgbClr val="DAE3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36477"/>
                </a:solidFill>
              </a:rPr>
              <a:t>GOVERNMENT DATA PLATFORM  •  REVERSE KNOWLEDGE TRANSFER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477"/>
                </a:solidFill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04672" y="1517904"/>
            <a:ext cx="86868" cy="86868"/>
          </a:xfrm>
          <a:prstGeom prst="ellipse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435608"/>
            <a:ext cx="10424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0233E"/>
                </a:solidFill>
              </a:rPr>
              <a:t>Identify the failed batch and first affected task; retain error evidence.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804672" y="2267712"/>
            <a:ext cx="86868" cy="86868"/>
          </a:xfrm>
          <a:prstGeom prst="ellipse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185416"/>
            <a:ext cx="10424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0233E"/>
                </a:solidFill>
              </a:rPr>
              <a:t>Resolve the dependency (file, config, permission, matching response or platform issue).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04672" y="3017520"/>
            <a:ext cx="86868" cy="86868"/>
          </a:xfrm>
          <a:prstGeom prst="ellipse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935224"/>
            <a:ext cx="10424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0233E"/>
                </a:solidFill>
              </a:rPr>
              <a:t>Obtain required approval, especially for production and data-changing operations.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804672" y="3767328"/>
            <a:ext cx="86868" cy="86868"/>
          </a:xfrm>
          <a:prstGeom prst="ellipse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685032"/>
            <a:ext cx="10424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0233E"/>
                </a:solidFill>
              </a:rPr>
              <a:t>Use approved One-click Operation / supported rerun path from the correct step.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804672" y="4517136"/>
            <a:ext cx="86868" cy="86868"/>
          </a:xfrm>
          <a:prstGeom prst="ellipse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434840"/>
            <a:ext cx="10424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0233E"/>
                </a:solidFill>
              </a:rPr>
              <a:t>Track the new DAG run; validate counts, match results and published data.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59536" y="566928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5353"/>
                </a:solidFill>
              </a:rPr>
              <a:t>Do not rerun blindly: assess duplicate processing, idempotency and downstream impact.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Monitoring Ownership &amp; Handoff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76072" y="9144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36477"/>
                </a:solidFill>
              </a:rPr>
              <a:t>Minimum information to record for each exception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18520" cy="0"/>
          </a:xfrm>
          <a:prstGeom prst="line">
            <a:avLst/>
          </a:prstGeom>
          <a:noFill/>
          <a:ln w="12700">
            <a:solidFill>
              <a:srgbClr val="DAE3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36477"/>
                </a:solidFill>
              </a:rPr>
              <a:t>GOVERNMENT DATA PLATFORM  •  REVERSE KNOWLEDGE TRANSFER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477"/>
                </a:solidFill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1508760"/>
            <a:ext cx="1828800" cy="594360"/>
          </a:xfrm>
          <a:prstGeom prst="rect">
            <a:avLst/>
          </a:prstGeom>
          <a:solidFill>
            <a:srgbClr val="1023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916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Source / Env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514600" y="1508760"/>
            <a:ext cx="1828800" cy="594360"/>
          </a:xfrm>
          <a:prstGeom prst="rect">
            <a:avLst/>
          </a:prstGeom>
          <a:solidFill>
            <a:srgbClr val="1023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6916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Batch / Run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43400" y="1508760"/>
            <a:ext cx="2743200" cy="594360"/>
          </a:xfrm>
          <a:prstGeom prst="rect">
            <a:avLst/>
          </a:prstGeom>
          <a:solidFill>
            <a:srgbClr val="1023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16916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Finding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086600" y="1508760"/>
            <a:ext cx="2514600" cy="594360"/>
          </a:xfrm>
          <a:prstGeom prst="rect">
            <a:avLst/>
          </a:prstGeom>
          <a:solidFill>
            <a:srgbClr val="1023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6916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Action / Owner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601200" y="1508760"/>
            <a:ext cx="1828800" cy="594360"/>
          </a:xfrm>
          <a:prstGeom prst="rect">
            <a:avLst/>
          </a:prstGeom>
          <a:solidFill>
            <a:srgbClr val="1023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0" y="16916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Follow-up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2112264"/>
            <a:ext cx="1828800" cy="832104"/>
          </a:xfrm>
          <a:prstGeom prst="rect">
            <a:avLst/>
          </a:prstGeom>
          <a:solidFill>
            <a:srgbClr val="F3F7FB"/>
          </a:solidFill>
          <a:ln w="12700">
            <a:solidFill>
              <a:srgbClr val="E0E7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2313432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0233E"/>
                </a:solidFill>
              </a:rPr>
              <a:t>Exclusion / PROD</a:t>
            </a:r>
            <a:endParaRPr lang="en-US" sz="1140" dirty="0"/>
          </a:p>
        </p:txBody>
      </p:sp>
      <p:sp>
        <p:nvSpPr>
          <p:cNvPr id="20" name="Shape 18"/>
          <p:cNvSpPr/>
          <p:nvPr/>
        </p:nvSpPr>
        <p:spPr>
          <a:xfrm>
            <a:off x="2514600" y="2112264"/>
            <a:ext cx="1828800" cy="832104"/>
          </a:xfrm>
          <a:prstGeom prst="rect">
            <a:avLst/>
          </a:prstGeom>
          <a:solidFill>
            <a:srgbClr val="F3F7FB"/>
          </a:solidFill>
          <a:ln w="12700">
            <a:solidFill>
              <a:srgbClr val="E0E7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06040" y="2313432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0233E"/>
                </a:solidFill>
              </a:rPr>
              <a:t>Date + batch ID</a:t>
            </a:r>
            <a:endParaRPr lang="en-US" sz="1140" dirty="0"/>
          </a:p>
        </p:txBody>
      </p:sp>
      <p:sp>
        <p:nvSpPr>
          <p:cNvPr id="22" name="Shape 20"/>
          <p:cNvSpPr/>
          <p:nvPr/>
        </p:nvSpPr>
        <p:spPr>
          <a:xfrm>
            <a:off x="4343400" y="2112264"/>
            <a:ext cx="2743200" cy="832104"/>
          </a:xfrm>
          <a:prstGeom prst="rect">
            <a:avLst/>
          </a:prstGeom>
          <a:solidFill>
            <a:srgbClr val="F3F7FB"/>
          </a:solidFill>
          <a:ln w="12700">
            <a:solidFill>
              <a:srgbClr val="E0E7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2313432"/>
            <a:ext cx="2578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0233E"/>
                </a:solidFill>
              </a:rPr>
              <a:t>Success / no-change</a:t>
            </a:r>
            <a:endParaRPr lang="en-US" sz="1140" dirty="0"/>
          </a:p>
        </p:txBody>
      </p:sp>
      <p:sp>
        <p:nvSpPr>
          <p:cNvPr id="24" name="Shape 22"/>
          <p:cNvSpPr/>
          <p:nvPr/>
        </p:nvSpPr>
        <p:spPr>
          <a:xfrm>
            <a:off x="7086600" y="2112264"/>
            <a:ext cx="2514600" cy="832104"/>
          </a:xfrm>
          <a:prstGeom prst="rect">
            <a:avLst/>
          </a:prstGeom>
          <a:solidFill>
            <a:srgbClr val="F3F7FB"/>
          </a:solidFill>
          <a:ln w="12700">
            <a:solidFill>
              <a:srgbClr val="E0E7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78040" y="2313432"/>
            <a:ext cx="23500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0233E"/>
                </a:solidFill>
              </a:rPr>
              <a:t>Monitor / validate</a:t>
            </a:r>
            <a:endParaRPr lang="en-US" sz="1140" dirty="0"/>
          </a:p>
        </p:txBody>
      </p:sp>
      <p:sp>
        <p:nvSpPr>
          <p:cNvPr id="26" name="Shape 24"/>
          <p:cNvSpPr/>
          <p:nvPr/>
        </p:nvSpPr>
        <p:spPr>
          <a:xfrm>
            <a:off x="9601200" y="2112264"/>
            <a:ext cx="1828800" cy="832104"/>
          </a:xfrm>
          <a:prstGeom prst="rect">
            <a:avLst/>
          </a:prstGeom>
          <a:solidFill>
            <a:srgbClr val="F3F7FB"/>
          </a:solidFill>
          <a:ln w="12700">
            <a:solidFill>
              <a:srgbClr val="E0E7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92640" y="2313432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0233E"/>
                </a:solidFill>
              </a:rPr>
              <a:t>Close with evidence</a:t>
            </a:r>
            <a:endParaRPr lang="en-US" sz="1140" dirty="0"/>
          </a:p>
        </p:txBody>
      </p:sp>
      <p:sp>
        <p:nvSpPr>
          <p:cNvPr id="28" name="Shape 26"/>
          <p:cNvSpPr/>
          <p:nvPr/>
        </p:nvSpPr>
        <p:spPr>
          <a:xfrm>
            <a:off x="685800" y="2953512"/>
            <a:ext cx="18288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3154680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0233E"/>
                </a:solidFill>
              </a:rPr>
              <a:t>SAM UEI / STAGE</a:t>
            </a:r>
            <a:endParaRPr lang="en-US" sz="1140" dirty="0"/>
          </a:p>
        </p:txBody>
      </p:sp>
      <p:sp>
        <p:nvSpPr>
          <p:cNvPr id="30" name="Shape 28"/>
          <p:cNvSpPr/>
          <p:nvPr/>
        </p:nvSpPr>
        <p:spPr>
          <a:xfrm>
            <a:off x="2514600" y="2953512"/>
            <a:ext cx="18288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06040" y="3154680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0233E"/>
                </a:solidFill>
              </a:rPr>
              <a:t>Date + batch ID</a:t>
            </a:r>
            <a:endParaRPr lang="en-US" sz="1140" dirty="0"/>
          </a:p>
        </p:txBody>
      </p:sp>
      <p:sp>
        <p:nvSpPr>
          <p:cNvPr id="32" name="Shape 30"/>
          <p:cNvSpPr/>
          <p:nvPr/>
        </p:nvSpPr>
        <p:spPr>
          <a:xfrm>
            <a:off x="4343400" y="2953512"/>
            <a:ext cx="27432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34840" y="3154680"/>
            <a:ext cx="2578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0233E"/>
                </a:solidFill>
              </a:rPr>
              <a:t>Matching / CDC issue</a:t>
            </a:r>
            <a:endParaRPr lang="en-US" sz="1140" dirty="0"/>
          </a:p>
        </p:txBody>
      </p:sp>
      <p:sp>
        <p:nvSpPr>
          <p:cNvPr id="34" name="Shape 32"/>
          <p:cNvSpPr/>
          <p:nvPr/>
        </p:nvSpPr>
        <p:spPr>
          <a:xfrm>
            <a:off x="7086600" y="2953512"/>
            <a:ext cx="25146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78040" y="3154680"/>
            <a:ext cx="23500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0233E"/>
                </a:solidFill>
              </a:rPr>
              <a:t>DE / platform / D&amp;B</a:t>
            </a:r>
            <a:endParaRPr lang="en-US" sz="1140" dirty="0"/>
          </a:p>
        </p:txBody>
      </p:sp>
      <p:sp>
        <p:nvSpPr>
          <p:cNvPr id="36" name="Shape 34"/>
          <p:cNvSpPr/>
          <p:nvPr/>
        </p:nvSpPr>
        <p:spPr>
          <a:xfrm>
            <a:off x="9601200" y="2953512"/>
            <a:ext cx="18288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92640" y="3154680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0233E"/>
                </a:solidFill>
              </a:rPr>
              <a:t>Ticket + rerun check</a:t>
            </a:r>
            <a:endParaRPr lang="en-US" sz="1140" dirty="0"/>
          </a:p>
        </p:txBody>
      </p:sp>
      <p:sp>
        <p:nvSpPr>
          <p:cNvPr id="38" name="Shape 36"/>
          <p:cNvSpPr/>
          <p:nvPr/>
        </p:nvSpPr>
        <p:spPr>
          <a:xfrm>
            <a:off x="685800" y="3794760"/>
            <a:ext cx="1828800" cy="832104"/>
          </a:xfrm>
          <a:prstGeom prst="rect">
            <a:avLst/>
          </a:prstGeom>
          <a:solidFill>
            <a:srgbClr val="F3F7FB"/>
          </a:solidFill>
          <a:ln w="12700">
            <a:solidFill>
              <a:srgbClr val="E0E7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39959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0233E"/>
                </a:solidFill>
              </a:rPr>
              <a:t>Nursing Home / QA</a:t>
            </a:r>
            <a:endParaRPr lang="en-US" sz="1140" dirty="0"/>
          </a:p>
        </p:txBody>
      </p:sp>
      <p:sp>
        <p:nvSpPr>
          <p:cNvPr id="40" name="Shape 38"/>
          <p:cNvSpPr/>
          <p:nvPr/>
        </p:nvSpPr>
        <p:spPr>
          <a:xfrm>
            <a:off x="2514600" y="3794760"/>
            <a:ext cx="1828800" cy="832104"/>
          </a:xfrm>
          <a:prstGeom prst="rect">
            <a:avLst/>
          </a:prstGeom>
          <a:solidFill>
            <a:srgbClr val="F3F7FB"/>
          </a:solidFill>
          <a:ln w="12700">
            <a:solidFill>
              <a:srgbClr val="E0E7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06040" y="39959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0233E"/>
                </a:solidFill>
              </a:rPr>
              <a:t>Date + batch ID</a:t>
            </a:r>
            <a:endParaRPr lang="en-US" sz="1140" dirty="0"/>
          </a:p>
        </p:txBody>
      </p:sp>
      <p:sp>
        <p:nvSpPr>
          <p:cNvPr id="42" name="Shape 40"/>
          <p:cNvSpPr/>
          <p:nvPr/>
        </p:nvSpPr>
        <p:spPr>
          <a:xfrm>
            <a:off x="4343400" y="3794760"/>
            <a:ext cx="2743200" cy="832104"/>
          </a:xfrm>
          <a:prstGeom prst="rect">
            <a:avLst/>
          </a:prstGeom>
          <a:solidFill>
            <a:srgbClr val="F3F7FB"/>
          </a:solidFill>
          <a:ln w="12700">
            <a:solidFill>
              <a:srgbClr val="E0E7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34840" y="3995928"/>
            <a:ext cx="25786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0233E"/>
                </a:solidFill>
              </a:rPr>
              <a:t>Layout / validation</a:t>
            </a:r>
            <a:endParaRPr lang="en-US" sz="1140" dirty="0"/>
          </a:p>
        </p:txBody>
      </p:sp>
      <p:sp>
        <p:nvSpPr>
          <p:cNvPr id="44" name="Shape 42"/>
          <p:cNvSpPr/>
          <p:nvPr/>
        </p:nvSpPr>
        <p:spPr>
          <a:xfrm>
            <a:off x="7086600" y="3794760"/>
            <a:ext cx="2514600" cy="832104"/>
          </a:xfrm>
          <a:prstGeom prst="rect">
            <a:avLst/>
          </a:prstGeom>
          <a:solidFill>
            <a:srgbClr val="F3F7FB"/>
          </a:solidFill>
          <a:ln w="12700">
            <a:solidFill>
              <a:srgbClr val="E0E7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78040" y="3995928"/>
            <a:ext cx="23500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0233E"/>
                </a:solidFill>
              </a:rPr>
              <a:t>Developer / tester</a:t>
            </a:r>
            <a:endParaRPr lang="en-US" sz="1140" dirty="0"/>
          </a:p>
        </p:txBody>
      </p:sp>
      <p:sp>
        <p:nvSpPr>
          <p:cNvPr id="46" name="Shape 44"/>
          <p:cNvSpPr/>
          <p:nvPr/>
        </p:nvSpPr>
        <p:spPr>
          <a:xfrm>
            <a:off x="9601200" y="3794760"/>
            <a:ext cx="1828800" cy="832104"/>
          </a:xfrm>
          <a:prstGeom prst="rect">
            <a:avLst/>
          </a:prstGeom>
          <a:solidFill>
            <a:srgbClr val="F3F7FB"/>
          </a:solidFill>
          <a:ln w="12700">
            <a:solidFill>
              <a:srgbClr val="E0E7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92640" y="3995928"/>
            <a:ext cx="166420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0233E"/>
                </a:solidFill>
              </a:rPr>
              <a:t>Retest + sign-off</a:t>
            </a:r>
            <a:endParaRPr lang="en-US" sz="1140" dirty="0"/>
          </a:p>
        </p:txBody>
      </p:sp>
      <p:sp>
        <p:nvSpPr>
          <p:cNvPr id="48" name="Text 46"/>
          <p:cNvSpPr/>
          <p:nvPr/>
        </p:nvSpPr>
        <p:spPr>
          <a:xfrm>
            <a:off x="786384" y="5285232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3E"/>
                </a:solidFill>
              </a:rPr>
              <a:t>Always capture evidence links, current owner, next checkpoint and production impact.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3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Summary &amp; Questions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76072" y="91440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36477"/>
                </a:solidFill>
              </a:rPr>
              <a:t>Consistent monitoring depends on verification, traceability and safe recovery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6391656"/>
            <a:ext cx="11018520" cy="0"/>
          </a:xfrm>
          <a:prstGeom prst="line">
            <a:avLst/>
          </a:prstGeom>
          <a:noFill/>
          <a:ln w="12700">
            <a:solidFill>
              <a:srgbClr val="DAE3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73952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36477"/>
                </a:solidFill>
              </a:rPr>
              <a:t>GOVERNMENT DATA PLATFORM  •  REVERSE KNOWLEDGE TRANSFER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018520" y="645566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36477"/>
                </a:solidFill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536192"/>
            <a:ext cx="5074920" cy="2103120"/>
          </a:xfrm>
          <a:prstGeom prst="roundRect">
            <a:avLst>
              <a:gd name="adj" fmla="val 4348"/>
            </a:avLst>
          </a:prstGeom>
          <a:solidFill>
            <a:srgbClr val="F3F7FB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536192"/>
            <a:ext cx="59436" cy="2103120"/>
          </a:xfrm>
          <a:prstGeom prst="rect">
            <a:avLst/>
          </a:prstGeom>
          <a:solidFill>
            <a:srgbClr val="00A8A0"/>
          </a:solidFill>
          <a:ln w="12700">
            <a:solidFill>
              <a:srgbClr val="00A8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67335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E"/>
                </a:solidFill>
              </a:rPr>
              <a:t>Daily operating discipline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057400"/>
            <a:ext cx="47091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36477"/>
                </a:solidFill>
              </a:rPr>
              <a:t>Expected feed → DAG status → log review → data validation → monitoring record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6172200" y="1536192"/>
            <a:ext cx="5074920" cy="2103120"/>
          </a:xfrm>
          <a:prstGeom prst="roundRect">
            <a:avLst>
              <a:gd name="adj" fmla="val 4348"/>
            </a:avLst>
          </a:prstGeom>
          <a:solidFill>
            <a:srgbClr val="F3F7FB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536192"/>
            <a:ext cx="59436" cy="2103120"/>
          </a:xfrm>
          <a:prstGeom prst="rect">
            <a:avLst/>
          </a:prstGeom>
          <a:solidFill>
            <a:srgbClr val="1466A3"/>
          </a:solidFill>
          <a:ln w="12700">
            <a:solidFill>
              <a:srgbClr val="1466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67335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33E"/>
                </a:solidFill>
              </a:rPr>
              <a:t>Exception management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2057400"/>
            <a:ext cx="47091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36477"/>
                </a:solidFill>
              </a:rPr>
              <a:t>Root cause → impact → approved recovery / escalation → rerun validation → handoff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868680" y="46177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233E"/>
                </a:solidFill>
              </a:rPr>
              <a:t>Questions &amp; Discussion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Government Data Platform | Reverse Knowledge Transfer</dc:title>
  <dc:subject>Reverse KT — Production Monitoring</dc:subject>
  <dc:creator>Government Data Engineering</dc:creator>
  <cp:lastModifiedBy>Government Data Engineering</cp:lastModifiedBy>
  <cp:revision>1</cp:revision>
  <dcterms:created xsi:type="dcterms:W3CDTF">2026-10-23T05:08:20Z</dcterms:created>
  <dcterms:modified xsi:type="dcterms:W3CDTF">2026-10-23T05:08:20Z</dcterms:modified>
</cp:coreProperties>
</file>